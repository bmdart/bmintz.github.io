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310" r:id="rId2"/>
    <p:sldId id="296" r:id="rId3"/>
    <p:sldId id="277" r:id="rId4"/>
    <p:sldId id="278" r:id="rId5"/>
    <p:sldId id="270" r:id="rId6"/>
    <p:sldId id="27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D23CAB-C9E0-49D2-AB59-E6EF10063E45}"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B636C9-E6D3-47C2-8AA3-07CF5E43B212}" type="slidenum">
              <a:rPr lang="en-US" smtClean="0"/>
              <a:t>‹#›</a:t>
            </a:fld>
            <a:endParaRPr lang="en-US"/>
          </a:p>
        </p:txBody>
      </p:sp>
    </p:spTree>
    <p:extLst>
      <p:ext uri="{BB962C8B-B14F-4D97-AF65-F5344CB8AC3E}">
        <p14:creationId xmlns:p14="http://schemas.microsoft.com/office/powerpoint/2010/main" val="3413166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8F94-748F-2690-86F5-EB3FFE7BB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671E8-0415-4E9A-285D-9EF6A6EA5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4EBBA-54D2-7250-7238-5C24FD866D05}"/>
              </a:ext>
            </a:extLst>
          </p:cNvPr>
          <p:cNvSpPr>
            <a:spLocks noGrp="1"/>
          </p:cNvSpPr>
          <p:nvPr>
            <p:ph type="body" idx="1"/>
          </p:nvPr>
        </p:nvSpPr>
        <p:spPr/>
        <p:txBody>
          <a:bodyPr/>
          <a:lstStyle/>
          <a:p>
            <a:r>
              <a:rPr lang="en-US" dirty="0"/>
              <a:t>Yellow = write in live.</a:t>
            </a:r>
          </a:p>
          <a:p>
            <a:endParaRPr lang="en-US" dirty="0"/>
          </a:p>
          <a:p>
            <a:r>
              <a:rPr lang="en-US" dirty="0"/>
              <a:t>Given the time constraint, I have to decide between going in more depth on one thing, or less depth on many, I’m always interested in more breadth, so I’</a:t>
            </a:r>
          </a:p>
        </p:txBody>
      </p:sp>
      <p:sp>
        <p:nvSpPr>
          <p:cNvPr id="4" name="Slide Number Placeholder 3">
            <a:extLst>
              <a:ext uri="{FF2B5EF4-FFF2-40B4-BE49-F238E27FC236}">
                <a16:creationId xmlns:a16="http://schemas.microsoft.com/office/drawing/2014/main" id="{2BB018A6-9EB6-7723-5D65-788D538EE5AB}"/>
              </a:ext>
            </a:extLst>
          </p:cNvPr>
          <p:cNvSpPr>
            <a:spLocks noGrp="1"/>
          </p:cNvSpPr>
          <p:nvPr>
            <p:ph type="sldNum" sz="quarter" idx="5"/>
          </p:nvPr>
        </p:nvSpPr>
        <p:spPr/>
        <p:txBody>
          <a:bodyPr/>
          <a:lstStyle/>
          <a:p>
            <a:fld id="{5D1C6D03-A8CE-4E04-B95A-12EF966A80AE}" type="slidenum">
              <a:rPr lang="en-US" smtClean="0"/>
              <a:t>1</a:t>
            </a:fld>
            <a:endParaRPr lang="en-US"/>
          </a:p>
        </p:txBody>
      </p:sp>
    </p:spTree>
    <p:extLst>
      <p:ext uri="{BB962C8B-B14F-4D97-AF65-F5344CB8AC3E}">
        <p14:creationId xmlns:p14="http://schemas.microsoft.com/office/powerpoint/2010/main" val="3101119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D1F8-A077-A9E6-825F-0090F4650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14CB3-5A90-F20F-DBC0-BF4A59056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34A80-65FC-7C93-7D20-A89BCDCD8DDD}"/>
              </a:ext>
            </a:extLst>
          </p:cNvPr>
          <p:cNvSpPr>
            <a:spLocks noGrp="1"/>
          </p:cNvSpPr>
          <p:nvPr>
            <p:ph type="body" idx="1"/>
          </p:nvPr>
        </p:nvSpPr>
        <p:spPr/>
        <p:txBody>
          <a:bodyPr/>
          <a:lstStyle/>
          <a:p>
            <a:r>
              <a:rPr lang="en-US" dirty="0"/>
              <a:t>Yellow = write in live.</a:t>
            </a:r>
          </a:p>
          <a:p>
            <a:endParaRPr lang="en-US" dirty="0"/>
          </a:p>
          <a:p>
            <a:r>
              <a:rPr lang="en-US" dirty="0"/>
              <a:t>Given the time constraint, I have to decide between going in more depth on one thing, or less depth on many, I’m always interested in more breadth, so I’</a:t>
            </a:r>
          </a:p>
        </p:txBody>
      </p:sp>
      <p:sp>
        <p:nvSpPr>
          <p:cNvPr id="4" name="Slide Number Placeholder 3">
            <a:extLst>
              <a:ext uri="{FF2B5EF4-FFF2-40B4-BE49-F238E27FC236}">
                <a16:creationId xmlns:a16="http://schemas.microsoft.com/office/drawing/2014/main" id="{046E6261-E767-6AE6-FFB5-5AA0CEF18159}"/>
              </a:ext>
            </a:extLst>
          </p:cNvPr>
          <p:cNvSpPr>
            <a:spLocks noGrp="1"/>
          </p:cNvSpPr>
          <p:nvPr>
            <p:ph type="sldNum" sz="quarter" idx="5"/>
          </p:nvPr>
        </p:nvSpPr>
        <p:spPr/>
        <p:txBody>
          <a:bodyPr/>
          <a:lstStyle/>
          <a:p>
            <a:fld id="{5D1C6D03-A8CE-4E04-B95A-12EF966A80AE}" type="slidenum">
              <a:rPr lang="en-US" smtClean="0"/>
              <a:t>2</a:t>
            </a:fld>
            <a:endParaRPr lang="en-US"/>
          </a:p>
        </p:txBody>
      </p:sp>
    </p:spTree>
    <p:extLst>
      <p:ext uri="{BB962C8B-B14F-4D97-AF65-F5344CB8AC3E}">
        <p14:creationId xmlns:p14="http://schemas.microsoft.com/office/powerpoint/2010/main" val="1636010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AD691-C059-CAE3-877C-715CE5543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9D921-9EE2-3D55-1212-A86A0239F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48A69-D500-AF19-6991-EE6CA70DA44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Relates to Blotto Game XXX from those slides – a question of resource allocation in a competitive environment, not really risk.</a:t>
            </a:r>
            <a:endParaRPr lang="en-US" dirty="0"/>
          </a:p>
          <a:p>
            <a:endParaRPr lang="en-US" dirty="0"/>
          </a:p>
          <a:p>
            <a:r>
              <a:rPr lang="en-US" dirty="0"/>
              <a:t>2022 – Yakio Yasui paper? Meaningful?</a:t>
            </a:r>
          </a:p>
          <a:p>
            <a:endParaRPr lang="en-US" dirty="0"/>
          </a:p>
          <a:p>
            <a:r>
              <a:rPr lang="en-US" dirty="0"/>
              <a:t>Decision theory?</a:t>
            </a:r>
          </a:p>
          <a:p>
            <a:endParaRPr lang="en-US" dirty="0"/>
          </a:p>
          <a:p>
            <a:r>
              <a:rPr lang="en-US" dirty="0"/>
              <a:t>Variance is symmetric – a problem if asymmetric up and downside.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Temporal vs spatial variation Martin 2019 and </a:t>
            </a:r>
            <a:r>
              <a:rPr lang="en-US" dirty="0" err="1"/>
              <a:t>kokko’s</a:t>
            </a:r>
            <a:r>
              <a:rPr lang="en-US" dirty="0"/>
              <a:t> environmental grain.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Could also care about median, or Expected utility</a:t>
            </a:r>
          </a:p>
          <a:p>
            <a:endParaRPr lang="en-US" dirty="0"/>
          </a:p>
          <a:p>
            <a:endParaRPr lang="en-US" dirty="0"/>
          </a:p>
          <a:p>
            <a:r>
              <a:rPr lang="en-US" sz="1200" b="1" kern="1200" dirty="0">
                <a:solidFill>
                  <a:schemeClr val="tx1"/>
                </a:solidFill>
                <a:effectLst/>
                <a:latin typeface="+mn-lt"/>
                <a:ea typeface="+mn-ea"/>
                <a:cs typeface="+mn-cs"/>
              </a:rPr>
              <a:t>Bet-hedging strategies in expanding populations – martin 2019</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t>
            </a:r>
            <a:r>
              <a:rPr lang="en-US" dirty="0"/>
              <a:t>bacterial persistence, antimicrobial resistance, immune evasion, and cancer cell heterogeneity.” – e.g. variations in antibiotic treatment, AAABBBAAABBB vs all one. </a:t>
            </a:r>
          </a:p>
          <a:p>
            <a:endParaRPr lang="en-US" dirty="0"/>
          </a:p>
          <a:p>
            <a:r>
              <a:rPr lang="en-US" dirty="0"/>
              <a:t>LEARNING THEORY / STOCHASTIC CONTROL – of BH populations. </a:t>
            </a:r>
          </a:p>
          <a:p>
            <a:endParaRPr lang="en-US" dirty="0"/>
          </a:p>
          <a:p>
            <a:r>
              <a:rPr lang="en-US" dirty="0"/>
              <a:t>“Donaldson-</a:t>
            </a:r>
            <a:r>
              <a:rPr lang="en-US" dirty="0" err="1"/>
              <a:t>Matasci</a:t>
            </a:r>
            <a:r>
              <a:rPr lang="en-US" dirty="0"/>
              <a:t>, Bergstrom, and Lachmann developed a framework linking environmental uncertainty, phenotypic diversity, cue reliability, and the fitness value of information. “</a:t>
            </a:r>
          </a:p>
          <a:p>
            <a:endParaRPr lang="en-US" dirty="0"/>
          </a:p>
          <a:p>
            <a:r>
              <a:rPr lang="en-US" b="1" dirty="0"/>
              <a:t>Summary</a:t>
            </a:r>
            <a:r>
              <a:rPr lang="en-US" dirty="0"/>
              <a:t> – the best distribution depends what is the thing you want to maximize – one shot or long term sum – E[X], some notion of risk – include var, long term product – log, if thresholds are important, could use min or conditional value at risk.</a:t>
            </a:r>
          </a:p>
        </p:txBody>
      </p:sp>
      <p:sp>
        <p:nvSpPr>
          <p:cNvPr id="4" name="Slide Number Placeholder 3">
            <a:extLst>
              <a:ext uri="{FF2B5EF4-FFF2-40B4-BE49-F238E27FC236}">
                <a16:creationId xmlns:a16="http://schemas.microsoft.com/office/drawing/2014/main" id="{8D9FB0D8-19BE-D9AF-D2F0-FEA0950ED261}"/>
              </a:ext>
            </a:extLst>
          </p:cNvPr>
          <p:cNvSpPr>
            <a:spLocks noGrp="1"/>
          </p:cNvSpPr>
          <p:nvPr>
            <p:ph type="sldNum" sz="quarter" idx="5"/>
          </p:nvPr>
        </p:nvSpPr>
        <p:spPr/>
        <p:txBody>
          <a:bodyPr/>
          <a:lstStyle/>
          <a:p>
            <a:fld id="{5D1C6D03-A8CE-4E04-B95A-12EF966A80AE}" type="slidenum">
              <a:rPr lang="en-US" smtClean="0"/>
              <a:t>3</a:t>
            </a:fld>
            <a:endParaRPr lang="en-US"/>
          </a:p>
        </p:txBody>
      </p:sp>
    </p:spTree>
    <p:extLst>
      <p:ext uri="{BB962C8B-B14F-4D97-AF65-F5344CB8AC3E}">
        <p14:creationId xmlns:p14="http://schemas.microsoft.com/office/powerpoint/2010/main" val="2347125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Born in newton MA. </a:t>
            </a:r>
          </a:p>
        </p:txBody>
      </p:sp>
      <p:sp>
        <p:nvSpPr>
          <p:cNvPr id="4" name="Slide Number Placeholder 3"/>
          <p:cNvSpPr>
            <a:spLocks noGrp="1"/>
          </p:cNvSpPr>
          <p:nvPr>
            <p:ph type="sldNum" sz="quarter" idx="5"/>
          </p:nvPr>
        </p:nvSpPr>
        <p:spPr/>
        <p:txBody>
          <a:bodyPr/>
          <a:lstStyle/>
          <a:p>
            <a:fld id="{5D1C6D03-A8CE-4E04-B95A-12EF966A80AE}" type="slidenum">
              <a:rPr lang="en-US" smtClean="0"/>
              <a:t>4</a:t>
            </a:fld>
            <a:endParaRPr lang="en-US"/>
          </a:p>
        </p:txBody>
      </p:sp>
    </p:spTree>
    <p:extLst>
      <p:ext uri="{BB962C8B-B14F-4D97-AF65-F5344CB8AC3E}">
        <p14:creationId xmlns:p14="http://schemas.microsoft.com/office/powerpoint/2010/main" val="2338572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Komisarski</a:t>
            </a:r>
            <a:r>
              <a:rPr lang="en-US" dirty="0"/>
              <a:t> 2021 gives an upper limit for the lower bound on the winning edges in an N length cycle. Nontransitive Random Variables and Nontransitive Dice</a:t>
            </a:r>
          </a:p>
          <a:p>
            <a:endParaRPr lang="en-US" dirty="0"/>
          </a:p>
        </p:txBody>
      </p:sp>
      <p:sp>
        <p:nvSpPr>
          <p:cNvPr id="4" name="Slide Number Placeholder 3"/>
          <p:cNvSpPr>
            <a:spLocks noGrp="1"/>
          </p:cNvSpPr>
          <p:nvPr>
            <p:ph type="sldNum" sz="quarter" idx="5"/>
          </p:nvPr>
        </p:nvSpPr>
        <p:spPr/>
        <p:txBody>
          <a:bodyPr/>
          <a:lstStyle/>
          <a:p>
            <a:fld id="{5D1C6D03-A8CE-4E04-B95A-12EF966A80AE}" type="slidenum">
              <a:rPr lang="en-US" smtClean="0"/>
              <a:t>5</a:t>
            </a:fld>
            <a:endParaRPr lang="en-US"/>
          </a:p>
        </p:txBody>
      </p:sp>
    </p:spTree>
    <p:extLst>
      <p:ext uri="{BB962C8B-B14F-4D97-AF65-F5344CB8AC3E}">
        <p14:creationId xmlns:p14="http://schemas.microsoft.com/office/powerpoint/2010/main" val="1547179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F1018-664D-9D36-EA5F-6C4EE2AB39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0DA235-C9A9-6D24-2845-28E3B9520F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8EE511-1205-4A2B-0672-37AB42FD52D0}"/>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5" name="Footer Placeholder 4">
            <a:extLst>
              <a:ext uri="{FF2B5EF4-FFF2-40B4-BE49-F238E27FC236}">
                <a16:creationId xmlns:a16="http://schemas.microsoft.com/office/drawing/2014/main" id="{7CEB7344-DCFE-2FBB-DDB2-EDE419718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7F0B5-490E-7F99-E006-D94855E67A4D}"/>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3260607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30C18-D616-7C9D-7533-B9D67BBA98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637DDD-B15D-4BA4-A712-EF16D8A5BE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FF567-9751-0357-1BD9-70AE8FD48747}"/>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5" name="Footer Placeholder 4">
            <a:extLst>
              <a:ext uri="{FF2B5EF4-FFF2-40B4-BE49-F238E27FC236}">
                <a16:creationId xmlns:a16="http://schemas.microsoft.com/office/drawing/2014/main" id="{AE293A7A-D9B1-FC89-E122-56F93E755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30AAA-3FE4-927B-C4F9-BE4ED179B7FF}"/>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1231673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BC5F5-CFD8-1077-E449-5B2F054709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D8D119-7096-D819-807E-2DEBA63AAF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D2015E-3278-4CD9-3EFB-173FE1D03CB1}"/>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5" name="Footer Placeholder 4">
            <a:extLst>
              <a:ext uri="{FF2B5EF4-FFF2-40B4-BE49-F238E27FC236}">
                <a16:creationId xmlns:a16="http://schemas.microsoft.com/office/drawing/2014/main" id="{9AD6EA9F-C09C-58C1-EE09-4AB7840C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FE458B-B563-D86B-3582-A48D32F78504}"/>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856221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EF06-DF78-594A-DE01-D69C8E870D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6BC53B-6247-F2E1-90F9-C04A63A614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98FF67-D4C5-2E9F-9C5B-5C8CC07394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CCA53A-3D35-A2C9-49D7-680CB8D0905C}"/>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6" name="Footer Placeholder 5">
            <a:extLst>
              <a:ext uri="{FF2B5EF4-FFF2-40B4-BE49-F238E27FC236}">
                <a16:creationId xmlns:a16="http://schemas.microsoft.com/office/drawing/2014/main" id="{2A51F250-6CB6-FAE5-6733-7E211D2B7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C19402-E0A8-4AA9-4105-0A23F6364734}"/>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625211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D4740-C707-8B24-E4B1-15B338D734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786AE8-B9FA-6B6A-B470-F29C2B26E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858CED-AB31-B02E-E10B-A092C6ABA3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940EE1-8EEB-5418-C40E-3126CA4F02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D2E821-47AA-84A0-83AA-FB25564F15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E56D6B-7728-CE7C-A972-499035B918F5}"/>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8" name="Footer Placeholder 7">
            <a:extLst>
              <a:ext uri="{FF2B5EF4-FFF2-40B4-BE49-F238E27FC236}">
                <a16:creationId xmlns:a16="http://schemas.microsoft.com/office/drawing/2014/main" id="{170257C9-07DA-BB1C-E452-0C7B87141F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389ABD-1FC0-FC9E-51C8-943A2A98EF8C}"/>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2912132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83672-99F2-EFB7-595F-622289D70E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F5A289-F190-37EC-4571-01C7A108C55F}"/>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4" name="Footer Placeholder 3">
            <a:extLst>
              <a:ext uri="{FF2B5EF4-FFF2-40B4-BE49-F238E27FC236}">
                <a16:creationId xmlns:a16="http://schemas.microsoft.com/office/drawing/2014/main" id="{0A15FBAB-9BDF-CD67-4FA6-8C76A0C5E3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75FDFD-3EA5-C1FB-DD3C-4B96822CFF1E}"/>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4151659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655336-7D61-1D3B-F0F1-D57B87A19F82}"/>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3" name="Footer Placeholder 2">
            <a:extLst>
              <a:ext uri="{FF2B5EF4-FFF2-40B4-BE49-F238E27FC236}">
                <a16:creationId xmlns:a16="http://schemas.microsoft.com/office/drawing/2014/main" id="{E3A0E5AF-B30B-C98B-7751-D3EE08822D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504EE8-E08E-5FE6-13F6-7339DE2BC5B4}"/>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89457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BE478-2DD7-D3CD-FDD5-FD779DF337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1A6675-C315-0893-40B4-D2F40453F4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F402FB-840F-B8FA-8D71-72DB354BFB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821545-E054-279C-27DD-6779580C2256}"/>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6" name="Footer Placeholder 5">
            <a:extLst>
              <a:ext uri="{FF2B5EF4-FFF2-40B4-BE49-F238E27FC236}">
                <a16:creationId xmlns:a16="http://schemas.microsoft.com/office/drawing/2014/main" id="{257B6EBF-A9E2-EA2E-3612-3B9CCA85D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6BC774-AEF2-FFDC-BA4C-FC60AD814D9A}"/>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50673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1C1F-A6DA-1EF1-C094-B677D9743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093779-585D-40D7-9410-CE8C79531E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41EDD7-56D3-3F36-E017-59B08BAF35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2FBCA2-37C8-5119-3BF2-F341DF103694}"/>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6" name="Footer Placeholder 5">
            <a:extLst>
              <a:ext uri="{FF2B5EF4-FFF2-40B4-BE49-F238E27FC236}">
                <a16:creationId xmlns:a16="http://schemas.microsoft.com/office/drawing/2014/main" id="{31FC1058-4219-16E2-EE6A-D55F95069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E90AD-6098-9BC9-5E21-826DDA4D5E22}"/>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45953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06A0-52B4-CF42-873E-4DCD2E9D6B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4099A1-8367-E883-CF9F-678C508218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3E6859-E43D-30FE-588B-41EC3F44368B}"/>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5" name="Footer Placeholder 4">
            <a:extLst>
              <a:ext uri="{FF2B5EF4-FFF2-40B4-BE49-F238E27FC236}">
                <a16:creationId xmlns:a16="http://schemas.microsoft.com/office/drawing/2014/main" id="{A66DEBE0-E226-6CA9-EC14-1DD09BD458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F3370D-606F-BCED-5554-46AAE89126E4}"/>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373432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24FCD2-2B46-A520-49B3-AA8DA41913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E73806-2DBA-5269-32E0-ECFFB830A2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98B588-43BF-8785-FF4A-4CE2FDC89F3B}"/>
              </a:ext>
            </a:extLst>
          </p:cNvPr>
          <p:cNvSpPr>
            <a:spLocks noGrp="1"/>
          </p:cNvSpPr>
          <p:nvPr>
            <p:ph type="dt" sz="half" idx="10"/>
          </p:nvPr>
        </p:nvSpPr>
        <p:spPr/>
        <p:txBody>
          <a:bodyPr/>
          <a:lstStyle/>
          <a:p>
            <a:fld id="{82DC3187-408D-4403-97B0-8D5E11FAFAAE}" type="datetimeFigureOut">
              <a:rPr lang="en-US" smtClean="0"/>
              <a:t>6/12/2026</a:t>
            </a:fld>
            <a:endParaRPr lang="en-US"/>
          </a:p>
        </p:txBody>
      </p:sp>
      <p:sp>
        <p:nvSpPr>
          <p:cNvPr id="5" name="Footer Placeholder 4">
            <a:extLst>
              <a:ext uri="{FF2B5EF4-FFF2-40B4-BE49-F238E27FC236}">
                <a16:creationId xmlns:a16="http://schemas.microsoft.com/office/drawing/2014/main" id="{55A2C09E-466F-90AB-FF52-59920448C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A22C83-E2BB-D3E8-6998-D953F63453D1}"/>
              </a:ext>
            </a:extLst>
          </p:cNvPr>
          <p:cNvSpPr>
            <a:spLocks noGrp="1"/>
          </p:cNvSpPr>
          <p:nvPr>
            <p:ph type="sldNum" sz="quarter" idx="12"/>
          </p:nvPr>
        </p:nvSpPr>
        <p:spPr/>
        <p:txBody>
          <a:bodyPr/>
          <a:lstStyle/>
          <a:p>
            <a:fld id="{8C5BB32F-DE1F-453A-A9B8-0C18B309F197}" type="slidenum">
              <a:rPr lang="en-US" smtClean="0"/>
              <a:t>‹#›</a:t>
            </a:fld>
            <a:endParaRPr lang="en-US"/>
          </a:p>
        </p:txBody>
      </p:sp>
    </p:spTree>
    <p:extLst>
      <p:ext uri="{BB962C8B-B14F-4D97-AF65-F5344CB8AC3E}">
        <p14:creationId xmlns:p14="http://schemas.microsoft.com/office/powerpoint/2010/main" val="294528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6B74-227B-5FAE-59AD-CAC54B316C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AEE73-73EF-02D6-8A65-D9A340BF3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152333-14FA-0929-3A07-4E87DAEB7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DC3187-408D-4403-97B0-8D5E11FAFAAE}" type="datetimeFigureOut">
              <a:rPr lang="en-US" smtClean="0"/>
              <a:t>6/12/2026</a:t>
            </a:fld>
            <a:endParaRPr lang="en-US"/>
          </a:p>
        </p:txBody>
      </p:sp>
      <p:sp>
        <p:nvSpPr>
          <p:cNvPr id="5" name="Footer Placeholder 4">
            <a:extLst>
              <a:ext uri="{FF2B5EF4-FFF2-40B4-BE49-F238E27FC236}">
                <a16:creationId xmlns:a16="http://schemas.microsoft.com/office/drawing/2014/main" id="{B26DCFDF-A47E-2946-FC33-27FCA11AAD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748132-7716-C007-D7A0-7D88D47D6C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BB32F-DE1F-453A-A9B8-0C18B309F197}" type="slidenum">
              <a:rPr lang="en-US" smtClean="0"/>
              <a:t>‹#›</a:t>
            </a:fld>
            <a:endParaRPr lang="en-US"/>
          </a:p>
        </p:txBody>
      </p:sp>
    </p:spTree>
    <p:extLst>
      <p:ext uri="{BB962C8B-B14F-4D97-AF65-F5344CB8AC3E}">
        <p14:creationId xmlns:p14="http://schemas.microsoft.com/office/powerpoint/2010/main" val="2904944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53A4D-3ECB-1AE3-CCE3-9CD98D1391BB}"/>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8B63C9CC-3033-564A-061F-8B0BB93CCDA5}"/>
              </a:ext>
            </a:extLst>
          </p:cNvPr>
          <p:cNvPicPr>
            <a:picLocks noChangeAspect="1"/>
          </p:cNvPicPr>
          <p:nvPr/>
        </p:nvPicPr>
        <p:blipFill>
          <a:blip r:embed="rId3"/>
          <a:stretch>
            <a:fillRect/>
          </a:stretch>
        </p:blipFill>
        <p:spPr>
          <a:xfrm>
            <a:off x="0" y="-63797"/>
            <a:ext cx="12186128" cy="6858001"/>
          </a:xfrm>
          <a:prstGeom prst="rect">
            <a:avLst/>
          </a:prstGeom>
        </p:spPr>
      </p:pic>
    </p:spTree>
    <p:extLst>
      <p:ext uri="{BB962C8B-B14F-4D97-AF65-F5344CB8AC3E}">
        <p14:creationId xmlns:p14="http://schemas.microsoft.com/office/powerpoint/2010/main" val="236998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CBAF9-C2CC-054A-46D7-61FC19F6A89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F7A81BB-5759-3459-C0CC-99D7E7EE9886}"/>
              </a:ext>
            </a:extLst>
          </p:cNvPr>
          <p:cNvPicPr>
            <a:picLocks noChangeAspect="1"/>
          </p:cNvPicPr>
          <p:nvPr/>
        </p:nvPicPr>
        <p:blipFill>
          <a:blip r:embed="rId3"/>
          <a:srcRect l="-371" t="1" r="371" b="6508"/>
          <a:stretch>
            <a:fillRect/>
          </a:stretch>
        </p:blipFill>
        <p:spPr>
          <a:xfrm>
            <a:off x="-759101" y="-1"/>
            <a:ext cx="12951101" cy="6858001"/>
          </a:xfrm>
          <a:prstGeom prst="rect">
            <a:avLst/>
          </a:prstGeom>
        </p:spPr>
      </p:pic>
      <p:cxnSp>
        <p:nvCxnSpPr>
          <p:cNvPr id="4" name="Straight Connector 3">
            <a:extLst>
              <a:ext uri="{FF2B5EF4-FFF2-40B4-BE49-F238E27FC236}">
                <a16:creationId xmlns:a16="http://schemas.microsoft.com/office/drawing/2014/main" id="{43E688C3-75AD-9B84-9503-4356E94769E8}"/>
              </a:ext>
            </a:extLst>
          </p:cNvPr>
          <p:cNvCxnSpPr>
            <a:cxnSpLocks/>
          </p:cNvCxnSpPr>
          <p:nvPr/>
        </p:nvCxnSpPr>
        <p:spPr>
          <a:xfrm>
            <a:off x="3146448" y="-28670"/>
            <a:ext cx="0" cy="68580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C9C620E-F57D-957F-BFFB-560EB506832D}"/>
              </a:ext>
            </a:extLst>
          </p:cNvPr>
          <p:cNvCxnSpPr>
            <a:cxnSpLocks/>
          </p:cNvCxnSpPr>
          <p:nvPr/>
        </p:nvCxnSpPr>
        <p:spPr>
          <a:xfrm>
            <a:off x="8022772" y="0"/>
            <a:ext cx="0" cy="68580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Subtitle 2">
            <a:extLst>
              <a:ext uri="{FF2B5EF4-FFF2-40B4-BE49-F238E27FC236}">
                <a16:creationId xmlns:a16="http://schemas.microsoft.com/office/drawing/2014/main" id="{4B2D0D75-F781-BB83-446D-72990B887909}"/>
              </a:ext>
            </a:extLst>
          </p:cNvPr>
          <p:cNvSpPr txBox="1">
            <a:spLocks/>
          </p:cNvSpPr>
          <p:nvPr/>
        </p:nvSpPr>
        <p:spPr>
          <a:xfrm>
            <a:off x="-661160" y="216320"/>
            <a:ext cx="4292995" cy="11759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latin typeface="Eras Light ITC" panose="020B0402030504020804" pitchFamily="34" charset="0"/>
              </a:rPr>
              <a:t>How to make decisions with risk? </a:t>
            </a:r>
          </a:p>
        </p:txBody>
      </p:sp>
      <p:sp>
        <p:nvSpPr>
          <p:cNvPr id="12" name="Subtitle 2">
            <a:extLst>
              <a:ext uri="{FF2B5EF4-FFF2-40B4-BE49-F238E27FC236}">
                <a16:creationId xmlns:a16="http://schemas.microsoft.com/office/drawing/2014/main" id="{52B24F4B-4A9B-D64F-9A09-0863F2A9096B}"/>
              </a:ext>
            </a:extLst>
          </p:cNvPr>
          <p:cNvSpPr txBox="1">
            <a:spLocks/>
          </p:cNvSpPr>
          <p:nvPr/>
        </p:nvSpPr>
        <p:spPr>
          <a:xfrm>
            <a:off x="-661160" y="3243165"/>
            <a:ext cx="4122817" cy="43799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b="1" dirty="0">
              <a:solidFill>
                <a:schemeClr val="bg1"/>
              </a:solidFill>
              <a:latin typeface="Eras Light ITC" panose="020B0402030504020804" pitchFamily="34" charset="0"/>
            </a:endParaRPr>
          </a:p>
        </p:txBody>
      </p:sp>
      <p:sp>
        <p:nvSpPr>
          <p:cNvPr id="13" name="Subtitle 2">
            <a:extLst>
              <a:ext uri="{FF2B5EF4-FFF2-40B4-BE49-F238E27FC236}">
                <a16:creationId xmlns:a16="http://schemas.microsoft.com/office/drawing/2014/main" id="{CA3948FB-B81C-9F20-5D8D-AE69CEF271E6}"/>
              </a:ext>
            </a:extLst>
          </p:cNvPr>
          <p:cNvSpPr txBox="1">
            <a:spLocks/>
          </p:cNvSpPr>
          <p:nvPr/>
        </p:nvSpPr>
        <p:spPr>
          <a:xfrm>
            <a:off x="3631835" y="129441"/>
            <a:ext cx="4292995" cy="11759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latin typeface="Eras Light ITC" panose="020B0402030504020804" pitchFamily="34" charset="0"/>
              </a:rPr>
              <a:t>What is the right number to assign a distribution?</a:t>
            </a:r>
          </a:p>
        </p:txBody>
      </p:sp>
      <p:sp>
        <p:nvSpPr>
          <p:cNvPr id="14" name="Subtitle 2">
            <a:extLst>
              <a:ext uri="{FF2B5EF4-FFF2-40B4-BE49-F238E27FC236}">
                <a16:creationId xmlns:a16="http://schemas.microsoft.com/office/drawing/2014/main" id="{79E9AA44-0C1E-BED4-2E4C-06B0F85D8993}"/>
              </a:ext>
            </a:extLst>
          </p:cNvPr>
          <p:cNvSpPr txBox="1">
            <a:spLocks/>
          </p:cNvSpPr>
          <p:nvPr/>
        </p:nvSpPr>
        <p:spPr>
          <a:xfrm>
            <a:off x="8095007" y="216320"/>
            <a:ext cx="4292995" cy="11759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latin typeface="Eras Light ITC" panose="020B0402030504020804" pitchFamily="34" charset="0"/>
              </a:rPr>
              <a:t>Could  there be no “best”?</a:t>
            </a:r>
          </a:p>
        </p:txBody>
      </p:sp>
      <p:sp>
        <p:nvSpPr>
          <p:cNvPr id="15" name="Subtitle 2">
            <a:extLst>
              <a:ext uri="{FF2B5EF4-FFF2-40B4-BE49-F238E27FC236}">
                <a16:creationId xmlns:a16="http://schemas.microsoft.com/office/drawing/2014/main" id="{63CA4C65-D39D-8868-0E4E-51D6B1D0FA18}"/>
              </a:ext>
            </a:extLst>
          </p:cNvPr>
          <p:cNvSpPr txBox="1">
            <a:spLocks/>
          </p:cNvSpPr>
          <p:nvPr/>
        </p:nvSpPr>
        <p:spPr>
          <a:xfrm>
            <a:off x="8033065" y="3335252"/>
            <a:ext cx="4158936" cy="330642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latin typeface="Eras Light ITC" panose="020B0402030504020804" pitchFamily="34" charset="0"/>
              </a:rPr>
              <a:t>Later Research / Open Questions</a:t>
            </a:r>
          </a:p>
        </p:txBody>
      </p:sp>
      <p:sp>
        <p:nvSpPr>
          <p:cNvPr id="41" name="TextBox 40">
            <a:extLst>
              <a:ext uri="{FF2B5EF4-FFF2-40B4-BE49-F238E27FC236}">
                <a16:creationId xmlns:a16="http://schemas.microsoft.com/office/drawing/2014/main" id="{5D594BE8-9459-D730-0D43-8FFE0C48E7DA}"/>
              </a:ext>
            </a:extLst>
          </p:cNvPr>
          <p:cNvSpPr txBox="1"/>
          <p:nvPr/>
        </p:nvSpPr>
        <p:spPr>
          <a:xfrm>
            <a:off x="-1121871" y="3112947"/>
            <a:ext cx="4573149" cy="461665"/>
          </a:xfrm>
          <a:prstGeom prst="rect">
            <a:avLst/>
          </a:prstGeom>
          <a:noFill/>
        </p:spPr>
        <p:txBody>
          <a:bodyPr wrap="square">
            <a:spAutoFit/>
          </a:bodyPr>
          <a:lstStyle/>
          <a:p>
            <a:pPr lvl="1"/>
            <a:r>
              <a:rPr lang="en-US" sz="2400" b="1" dirty="0">
                <a:solidFill>
                  <a:schemeClr val="bg1"/>
                </a:solidFill>
                <a:latin typeface="Eras Light ITC" panose="020B0402030504020804" pitchFamily="34" charset="0"/>
              </a:rPr>
              <a:t>Applications </a:t>
            </a:r>
          </a:p>
        </p:txBody>
      </p:sp>
      <p:sp>
        <p:nvSpPr>
          <p:cNvPr id="7410" name="Rectangle 7409">
            <a:extLst>
              <a:ext uri="{FF2B5EF4-FFF2-40B4-BE49-F238E27FC236}">
                <a16:creationId xmlns:a16="http://schemas.microsoft.com/office/drawing/2014/main" id="{9D205C7D-DDB1-2F22-1CA4-0E925D6DE1C3}"/>
              </a:ext>
            </a:extLst>
          </p:cNvPr>
          <p:cNvSpPr/>
          <p:nvPr/>
        </p:nvSpPr>
        <p:spPr>
          <a:xfrm>
            <a:off x="-661160" y="190946"/>
            <a:ext cx="3762920" cy="3923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1" name="Rectangle 7410">
            <a:extLst>
              <a:ext uri="{FF2B5EF4-FFF2-40B4-BE49-F238E27FC236}">
                <a16:creationId xmlns:a16="http://schemas.microsoft.com/office/drawing/2014/main" id="{B2F3A002-3601-5CBD-327B-B24E7865E583}"/>
              </a:ext>
            </a:extLst>
          </p:cNvPr>
          <p:cNvSpPr/>
          <p:nvPr/>
        </p:nvSpPr>
        <p:spPr>
          <a:xfrm>
            <a:off x="-623949" y="3141642"/>
            <a:ext cx="1795367" cy="3450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2" name="Rectangle 7411">
            <a:extLst>
              <a:ext uri="{FF2B5EF4-FFF2-40B4-BE49-F238E27FC236}">
                <a16:creationId xmlns:a16="http://schemas.microsoft.com/office/drawing/2014/main" id="{BA2DC6CB-DA95-5ACE-27F8-16F104372DFA}"/>
              </a:ext>
            </a:extLst>
          </p:cNvPr>
          <p:cNvSpPr/>
          <p:nvPr/>
        </p:nvSpPr>
        <p:spPr>
          <a:xfrm>
            <a:off x="3720094" y="130986"/>
            <a:ext cx="4018443" cy="5968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3" name="Rectangle 7412">
            <a:extLst>
              <a:ext uri="{FF2B5EF4-FFF2-40B4-BE49-F238E27FC236}">
                <a16:creationId xmlns:a16="http://schemas.microsoft.com/office/drawing/2014/main" id="{D59FCAFA-1683-3E48-13C9-85F1FCDC353C}"/>
              </a:ext>
            </a:extLst>
          </p:cNvPr>
          <p:cNvSpPr/>
          <p:nvPr/>
        </p:nvSpPr>
        <p:spPr>
          <a:xfrm>
            <a:off x="8100975" y="184411"/>
            <a:ext cx="3082811" cy="34127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4" name="Rectangle 7413">
            <a:extLst>
              <a:ext uri="{FF2B5EF4-FFF2-40B4-BE49-F238E27FC236}">
                <a16:creationId xmlns:a16="http://schemas.microsoft.com/office/drawing/2014/main" id="{DB323991-85C5-5317-00C7-660CAA1F164B}"/>
              </a:ext>
            </a:extLst>
          </p:cNvPr>
          <p:cNvSpPr/>
          <p:nvPr/>
        </p:nvSpPr>
        <p:spPr>
          <a:xfrm>
            <a:off x="8057853" y="3347570"/>
            <a:ext cx="3772197" cy="3041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945B715-89BB-5FD7-DDAD-72201E9DAFDE}"/>
              </a:ext>
            </a:extLst>
          </p:cNvPr>
          <p:cNvSpPr txBox="1"/>
          <p:nvPr/>
        </p:nvSpPr>
        <p:spPr>
          <a:xfrm>
            <a:off x="-658239" y="788671"/>
            <a:ext cx="3759998" cy="2308324"/>
          </a:xfrm>
          <a:prstGeom prst="rect">
            <a:avLst/>
          </a:prstGeom>
          <a:noFill/>
        </p:spPr>
        <p:txBody>
          <a:bodyPr wrap="square">
            <a:spAutoFit/>
          </a:bodyPr>
          <a:lstStyle/>
          <a:p>
            <a:r>
              <a:rPr lang="en-US" sz="1800" dirty="0">
                <a:solidFill>
                  <a:srgbClr val="CC99FF"/>
                </a:solidFill>
              </a:rPr>
              <a:t>Either </a:t>
            </a:r>
            <a:r>
              <a:rPr lang="en-US" dirty="0">
                <a:solidFill>
                  <a:srgbClr val="CC99FF"/>
                </a:solidFill>
              </a:rPr>
              <a:t>due to </a:t>
            </a:r>
            <a:r>
              <a:rPr lang="en-US" dirty="0">
                <a:solidFill>
                  <a:srgbClr val="FFFF00"/>
                </a:solidFill>
              </a:rPr>
              <a:t>non determinism </a:t>
            </a:r>
            <a:r>
              <a:rPr lang="en-US" dirty="0">
                <a:solidFill>
                  <a:srgbClr val="CC99FF"/>
                </a:solidFill>
              </a:rPr>
              <a:t>from quantum mechanics or </a:t>
            </a:r>
            <a:r>
              <a:rPr lang="en-US" dirty="0">
                <a:solidFill>
                  <a:srgbClr val="FFFF00"/>
                </a:solidFill>
              </a:rPr>
              <a:t>imperfect information</a:t>
            </a:r>
            <a:r>
              <a:rPr lang="en-US" dirty="0">
                <a:solidFill>
                  <a:srgbClr val="CC99FF"/>
                </a:solidFill>
              </a:rPr>
              <a:t>,  the future state of the world is uncertain. This makes decisions nontrivial, as any action could have a </a:t>
            </a:r>
            <a:r>
              <a:rPr lang="en-US" dirty="0">
                <a:solidFill>
                  <a:srgbClr val="FFFF00"/>
                </a:solidFill>
              </a:rPr>
              <a:t>range of consequences</a:t>
            </a:r>
            <a:r>
              <a:rPr lang="en-US" dirty="0">
                <a:solidFill>
                  <a:srgbClr val="CC99FF"/>
                </a:solidFill>
              </a:rPr>
              <a:t>. </a:t>
            </a:r>
          </a:p>
          <a:p>
            <a:endParaRPr lang="en-US" dirty="0">
              <a:solidFill>
                <a:srgbClr val="CC99FF"/>
              </a:solidFill>
            </a:endParaRPr>
          </a:p>
          <a:p>
            <a:r>
              <a:rPr lang="en-US" sz="1800" dirty="0">
                <a:solidFill>
                  <a:srgbClr val="CC99FF"/>
                </a:solidFill>
              </a:rPr>
              <a:t>History of answers to this question. </a:t>
            </a:r>
            <a:endParaRPr lang="en-US" dirty="0">
              <a:solidFill>
                <a:srgbClr val="CC99FF"/>
              </a:solidFill>
            </a:endParaRPr>
          </a:p>
        </p:txBody>
      </p:sp>
      <p:sp>
        <p:nvSpPr>
          <p:cNvPr id="8" name="TextBox 7">
            <a:extLst>
              <a:ext uri="{FF2B5EF4-FFF2-40B4-BE49-F238E27FC236}">
                <a16:creationId xmlns:a16="http://schemas.microsoft.com/office/drawing/2014/main" id="{D984CC6C-66D9-673D-022F-3036F808472D}"/>
              </a:ext>
            </a:extLst>
          </p:cNvPr>
          <p:cNvSpPr txBox="1"/>
          <p:nvPr/>
        </p:nvSpPr>
        <p:spPr>
          <a:xfrm>
            <a:off x="-659695" y="3500132"/>
            <a:ext cx="3965391" cy="2031325"/>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CC99FF"/>
                </a:solidFill>
              </a:rPr>
              <a:t>All examples of the same abstract problem: how to </a:t>
            </a:r>
            <a:r>
              <a:rPr lang="en-US" sz="1800" dirty="0">
                <a:solidFill>
                  <a:srgbClr val="FFFF00"/>
                </a:solidFill>
              </a:rPr>
              <a:t>distribute resources</a:t>
            </a:r>
            <a:r>
              <a:rPr lang="en-US" sz="1800" dirty="0">
                <a:solidFill>
                  <a:srgbClr val="CC99FF"/>
                </a:solidFill>
              </a:rPr>
              <a:t> (money or effort) among uncertain endeavors (investments, offspring, research projects). </a:t>
            </a:r>
          </a:p>
          <a:p>
            <a:pPr marL="285750" indent="-285750">
              <a:buFont typeface="Arial" panose="020B0604020202020204" pitchFamily="34" charset="0"/>
              <a:buChar char="•"/>
            </a:pPr>
            <a:r>
              <a:rPr lang="en-US" sz="1800" dirty="0">
                <a:solidFill>
                  <a:srgbClr val="CC99FF"/>
                </a:solidFill>
              </a:rPr>
              <a:t>Each distribution creates a random variable – the portfolio performance.  </a:t>
            </a:r>
          </a:p>
        </p:txBody>
      </p:sp>
      <p:sp>
        <p:nvSpPr>
          <p:cNvPr id="9" name="TextBox 8">
            <a:extLst>
              <a:ext uri="{FF2B5EF4-FFF2-40B4-BE49-F238E27FC236}">
                <a16:creationId xmlns:a16="http://schemas.microsoft.com/office/drawing/2014/main" id="{61851E2B-2F68-9103-229F-AE4A29B2B3A3}"/>
              </a:ext>
            </a:extLst>
          </p:cNvPr>
          <p:cNvSpPr txBox="1"/>
          <p:nvPr/>
        </p:nvSpPr>
        <p:spPr>
          <a:xfrm>
            <a:off x="3146448" y="727808"/>
            <a:ext cx="4998024" cy="6247864"/>
          </a:xfrm>
          <a:prstGeom prst="rect">
            <a:avLst/>
          </a:prstGeom>
          <a:noFill/>
        </p:spPr>
        <p:txBody>
          <a:bodyPr wrap="square">
            <a:spAutoFit/>
          </a:bodyPr>
          <a:lstStyle/>
          <a:p>
            <a:pPr marL="285750" indent="-285750">
              <a:buFont typeface="Arial" panose="020B0604020202020204" pitchFamily="34" charset="0"/>
              <a:buChar char="•"/>
            </a:pPr>
            <a:r>
              <a:rPr lang="en-US" sz="1600" dirty="0">
                <a:solidFill>
                  <a:srgbClr val="CC99FF"/>
                </a:solidFill>
              </a:rPr>
              <a:t>We know how to </a:t>
            </a:r>
            <a:r>
              <a:rPr lang="en-US" sz="1600" dirty="0">
                <a:solidFill>
                  <a:srgbClr val="FFFF00"/>
                </a:solidFill>
              </a:rPr>
              <a:t>compare numbers</a:t>
            </a:r>
            <a:r>
              <a:rPr lang="en-US" sz="1600" dirty="0">
                <a:solidFill>
                  <a:srgbClr val="CC99FF"/>
                </a:solidFill>
              </a:rPr>
              <a:t>, so it would suffice to </a:t>
            </a:r>
            <a:r>
              <a:rPr lang="en-US" sz="1600" dirty="0">
                <a:solidFill>
                  <a:srgbClr val="FFFF00"/>
                </a:solidFill>
              </a:rPr>
              <a:t>compress</a:t>
            </a:r>
            <a:r>
              <a:rPr lang="en-US" sz="1600" dirty="0">
                <a:solidFill>
                  <a:srgbClr val="CC99FF"/>
                </a:solidFill>
              </a:rPr>
              <a:t> the distribution. </a:t>
            </a:r>
          </a:p>
          <a:p>
            <a:pPr marL="285750" indent="-285750">
              <a:buFont typeface="Arial" panose="020B0604020202020204" pitchFamily="34" charset="0"/>
              <a:buChar char="•"/>
            </a:pPr>
            <a:r>
              <a:rPr lang="en-US" sz="1600" dirty="0">
                <a:solidFill>
                  <a:srgbClr val="CC99FF"/>
                </a:solidFill>
              </a:rPr>
              <a:t>Actuarial / insurance: CLT - </a:t>
            </a:r>
            <a:r>
              <a:rPr lang="en-US" sz="1600" dirty="0">
                <a:solidFill>
                  <a:srgbClr val="FFFF00"/>
                </a:solidFill>
              </a:rPr>
              <a:t>temporal</a:t>
            </a:r>
            <a:r>
              <a:rPr lang="en-US" sz="1600" dirty="0">
                <a:solidFill>
                  <a:srgbClr val="CC99FF"/>
                </a:solidFill>
              </a:rPr>
              <a:t>  through sequential bets or </a:t>
            </a:r>
            <a:r>
              <a:rPr lang="en-US" sz="1600" dirty="0">
                <a:solidFill>
                  <a:srgbClr val="FFFF00"/>
                </a:solidFill>
              </a:rPr>
              <a:t>spatial</a:t>
            </a:r>
            <a:r>
              <a:rPr lang="en-US" sz="1600" dirty="0">
                <a:solidFill>
                  <a:srgbClr val="CC99FF"/>
                </a:solidFill>
              </a:rPr>
              <a:t> through concurrent, either must be </a:t>
            </a:r>
            <a:r>
              <a:rPr lang="en-US" sz="1600" dirty="0">
                <a:solidFill>
                  <a:srgbClr val="FFFF00"/>
                </a:solidFill>
              </a:rPr>
              <a:t>independent</a:t>
            </a:r>
            <a:r>
              <a:rPr lang="en-US" sz="1600" dirty="0">
                <a:solidFill>
                  <a:srgbClr val="CC99FF"/>
                </a:solidFill>
              </a:rPr>
              <a:t> </a:t>
            </a:r>
          </a:p>
          <a:p>
            <a:pPr marL="285750" indent="-285750">
              <a:buFont typeface="Arial" panose="020B0604020202020204" pitchFamily="34" charset="0"/>
              <a:buChar char="•"/>
            </a:pPr>
            <a:r>
              <a:rPr lang="en-US" sz="1600" dirty="0">
                <a:solidFill>
                  <a:srgbClr val="CC99FF"/>
                </a:solidFill>
              </a:rPr>
              <a:t>Problem: resource often grow </a:t>
            </a:r>
            <a:r>
              <a:rPr lang="en-US" sz="1600" dirty="0">
                <a:solidFill>
                  <a:srgbClr val="FFFF00"/>
                </a:solidFill>
              </a:rPr>
              <a:t>multiplicatively</a:t>
            </a:r>
            <a:r>
              <a:rPr lang="en-US" sz="1600" dirty="0">
                <a:solidFill>
                  <a:srgbClr val="CC99FF"/>
                </a:solidFill>
              </a:rPr>
              <a:t> </a:t>
            </a:r>
          </a:p>
          <a:p>
            <a:pPr marL="285750" indent="-285750">
              <a:buFont typeface="Arial" panose="020B0604020202020204" pitchFamily="34" charset="0"/>
              <a:buChar char="•"/>
            </a:pPr>
            <a:r>
              <a:rPr lang="en-US" sz="1600" dirty="0">
                <a:solidFill>
                  <a:srgbClr val="CC99FF"/>
                </a:solidFill>
              </a:rPr>
              <a:t>Kelly (bell labs </a:t>
            </a:r>
            <a:r>
              <a:rPr lang="en-US" sz="1600" dirty="0">
                <a:solidFill>
                  <a:srgbClr val="FFFF00"/>
                </a:solidFill>
              </a:rPr>
              <a:t>information theory</a:t>
            </a:r>
            <a:r>
              <a:rPr lang="en-US" sz="1600" dirty="0">
                <a:solidFill>
                  <a:srgbClr val="CC99FF"/>
                </a:solidFill>
              </a:rPr>
              <a:t>) solved for the bet proportion that </a:t>
            </a:r>
            <a:r>
              <a:rPr lang="en-US" sz="1600" dirty="0">
                <a:solidFill>
                  <a:srgbClr val="FFFF00"/>
                </a:solidFill>
              </a:rPr>
              <a:t>maximizes</a:t>
            </a:r>
            <a:r>
              <a:rPr lang="en-US" sz="1600" dirty="0">
                <a:solidFill>
                  <a:srgbClr val="CC99FF"/>
                </a:solidFill>
              </a:rPr>
              <a:t> </a:t>
            </a:r>
            <a:r>
              <a:rPr lang="en-US" sz="1600" dirty="0">
                <a:solidFill>
                  <a:srgbClr val="FFFF00"/>
                </a:solidFill>
              </a:rPr>
              <a:t>growth rate = information rate</a:t>
            </a:r>
            <a:r>
              <a:rPr lang="en-US" sz="1600" dirty="0">
                <a:solidFill>
                  <a:srgbClr val="CC99FF"/>
                </a:solidFill>
              </a:rPr>
              <a:t>.</a:t>
            </a:r>
          </a:p>
          <a:p>
            <a:pPr marL="285750" indent="-285750">
              <a:buFont typeface="Arial" panose="020B0604020202020204" pitchFamily="34" charset="0"/>
              <a:buChar char="•"/>
            </a:pPr>
            <a:r>
              <a:rPr lang="en-US" sz="1600" dirty="0">
                <a:solidFill>
                  <a:srgbClr val="CC99FF"/>
                </a:solidFill>
              </a:rPr>
              <a:t>The explanation for this difference is the </a:t>
            </a:r>
            <a:r>
              <a:rPr lang="en-US" sz="1600" dirty="0">
                <a:solidFill>
                  <a:srgbClr val="FFFF00"/>
                </a:solidFill>
              </a:rPr>
              <a:t>variance</a:t>
            </a:r>
            <a:r>
              <a:rPr lang="en-US" sz="1600" dirty="0">
                <a:solidFill>
                  <a:srgbClr val="CC99FF"/>
                </a:solidFill>
              </a:rPr>
              <a:t> an average (squared) deviation from E[X]. </a:t>
            </a:r>
          </a:p>
          <a:p>
            <a:pPr marL="285750" indent="-285750">
              <a:buFont typeface="Arial" panose="020B0604020202020204" pitchFamily="34" charset="0"/>
              <a:buChar char="•"/>
            </a:pPr>
            <a:r>
              <a:rPr lang="en-US" sz="1600" dirty="0">
                <a:solidFill>
                  <a:srgbClr val="FFFF00"/>
                </a:solidFill>
              </a:rPr>
              <a:t>Geometric intuition</a:t>
            </a:r>
            <a:r>
              <a:rPr lang="en-US" sz="1600" dirty="0">
                <a:solidFill>
                  <a:srgbClr val="CC99FF"/>
                </a:solidFill>
              </a:rPr>
              <a:t>: variance is symmetric  by log is not, +1 vs +1%. </a:t>
            </a:r>
          </a:p>
          <a:p>
            <a:pPr marL="285750" indent="-285750">
              <a:buFont typeface="Arial" panose="020B0604020202020204" pitchFamily="34" charset="0"/>
              <a:buChar char="•"/>
            </a:pPr>
            <a:r>
              <a:rPr lang="en-US" sz="1600" dirty="0">
                <a:solidFill>
                  <a:srgbClr val="CC99FF"/>
                </a:solidFill>
              </a:rPr>
              <a:t>Variance is bad, how to</a:t>
            </a:r>
            <a:r>
              <a:rPr lang="en-US" sz="1600" dirty="0">
                <a:solidFill>
                  <a:srgbClr val="FFFF00"/>
                </a:solidFill>
              </a:rPr>
              <a:t> co-optimize </a:t>
            </a:r>
            <a:r>
              <a:rPr lang="en-US" sz="1600" dirty="0">
                <a:solidFill>
                  <a:srgbClr val="CC99FF"/>
                </a:solidFill>
              </a:rPr>
              <a:t>with  E[X]?</a:t>
            </a:r>
          </a:p>
          <a:p>
            <a:pPr marL="285750" indent="-285750">
              <a:buFont typeface="Arial" panose="020B0604020202020204" pitchFamily="34" charset="0"/>
              <a:buChar char="•"/>
            </a:pPr>
            <a:r>
              <a:rPr lang="en-US" sz="1600" dirty="0">
                <a:solidFill>
                  <a:srgbClr val="CC99FF"/>
                </a:solidFill>
              </a:rPr>
              <a:t>Markowitz (</a:t>
            </a:r>
            <a:r>
              <a:rPr lang="en-US" sz="1600" dirty="0">
                <a:solidFill>
                  <a:srgbClr val="FFFF00"/>
                </a:solidFill>
              </a:rPr>
              <a:t>economist</a:t>
            </a:r>
            <a:r>
              <a:rPr lang="en-US" sz="1600" dirty="0">
                <a:solidFill>
                  <a:srgbClr val="CC99FF"/>
                </a:solidFill>
              </a:rPr>
              <a:t>) </a:t>
            </a:r>
            <a:r>
              <a:rPr lang="en-US" sz="1600" dirty="0">
                <a:solidFill>
                  <a:srgbClr val="FFFF00"/>
                </a:solidFill>
              </a:rPr>
              <a:t>Computed the efficient </a:t>
            </a:r>
            <a:r>
              <a:rPr lang="en-US" sz="1600" dirty="0">
                <a:solidFill>
                  <a:srgbClr val="CC99FF"/>
                </a:solidFill>
              </a:rPr>
              <a:t>set of RV. Tradeoff </a:t>
            </a:r>
            <a:r>
              <a:rPr lang="en-US" sz="1600" dirty="0">
                <a:solidFill>
                  <a:srgbClr val="FFFF00"/>
                </a:solidFill>
              </a:rPr>
              <a:t>locally looks linear</a:t>
            </a:r>
            <a:r>
              <a:rPr lang="en-US" sz="1600" dirty="0">
                <a:solidFill>
                  <a:srgbClr val="CC99FF"/>
                </a:solidFill>
              </a:rPr>
              <a:t> by LaGrange multipliers</a:t>
            </a:r>
          </a:p>
          <a:p>
            <a:pPr marL="742950" lvl="1" indent="-285750">
              <a:buFont typeface="Arial" panose="020B0604020202020204" pitchFamily="34" charset="0"/>
              <a:buChar char="•"/>
            </a:pPr>
            <a:r>
              <a:rPr lang="en-US" sz="1600" dirty="0">
                <a:solidFill>
                  <a:srgbClr val="CC99FF"/>
                </a:solidFill>
              </a:rPr>
              <a:t>This “Modern portfolio theory” won </a:t>
            </a:r>
            <a:r>
              <a:rPr lang="en-US" sz="1600" dirty="0">
                <a:solidFill>
                  <a:srgbClr val="FFFF00"/>
                </a:solidFill>
              </a:rPr>
              <a:t>1990 economics Nobel prize</a:t>
            </a:r>
            <a:r>
              <a:rPr lang="en-US" sz="1600" dirty="0">
                <a:solidFill>
                  <a:srgbClr val="CC99FF"/>
                </a:solidFill>
              </a:rPr>
              <a:t>. </a:t>
            </a:r>
          </a:p>
          <a:p>
            <a:pPr marL="742950" lvl="1" indent="-285750">
              <a:buFont typeface="Arial" panose="020B0604020202020204" pitchFamily="34" charset="0"/>
              <a:buChar char="•"/>
            </a:pPr>
            <a:r>
              <a:rPr lang="en-US" sz="1600" dirty="0">
                <a:solidFill>
                  <a:srgbClr val="FFFF00"/>
                </a:solidFill>
              </a:rPr>
              <a:t>Doesn’t gave a resolution</a:t>
            </a:r>
            <a:r>
              <a:rPr lang="en-US" sz="1600" dirty="0">
                <a:solidFill>
                  <a:srgbClr val="CC99FF"/>
                </a:solidFill>
              </a:rPr>
              <a:t>, like saying which vector is longer, there is a range of answers based on tradeoff. </a:t>
            </a:r>
          </a:p>
          <a:p>
            <a:pPr marL="285750" indent="-285750">
              <a:buFont typeface="Arial" panose="020B0604020202020204" pitchFamily="34" charset="0"/>
              <a:buChar char="•"/>
            </a:pPr>
            <a:r>
              <a:rPr lang="en-US" sz="1600" dirty="0">
                <a:solidFill>
                  <a:srgbClr val="CC99FF"/>
                </a:solidFill>
              </a:rPr>
              <a:t>Gillespie (</a:t>
            </a:r>
            <a:r>
              <a:rPr lang="en-US" sz="1600" dirty="0">
                <a:solidFill>
                  <a:srgbClr val="FFFF00"/>
                </a:solidFill>
              </a:rPr>
              <a:t>biologist</a:t>
            </a:r>
            <a:r>
              <a:rPr lang="en-US" sz="1600" dirty="0">
                <a:solidFill>
                  <a:srgbClr val="CC99FF"/>
                </a:solidFill>
              </a:rPr>
              <a:t>) </a:t>
            </a:r>
            <a:r>
              <a:rPr lang="en-US" sz="1600" dirty="0">
                <a:solidFill>
                  <a:srgbClr val="FFFF00"/>
                </a:solidFill>
              </a:rPr>
              <a:t>pins down a lambda</a:t>
            </a:r>
            <a:r>
              <a:rPr lang="en-US" sz="1600" dirty="0">
                <a:solidFill>
                  <a:srgbClr val="CC99FF"/>
                </a:solidFill>
              </a:rPr>
              <a:t>.</a:t>
            </a:r>
          </a:p>
          <a:p>
            <a:pPr marL="285750" indent="-285750">
              <a:buFont typeface="Arial" panose="020B0604020202020204" pitchFamily="34" charset="0"/>
              <a:buChar char="•"/>
            </a:pPr>
            <a:r>
              <a:rPr lang="en-US" sz="1600" dirty="0">
                <a:solidFill>
                  <a:srgbClr val="CC99FF"/>
                </a:solidFill>
              </a:rPr>
              <a:t>Phenotypic variance (</a:t>
            </a:r>
            <a:r>
              <a:rPr lang="en-US" sz="1600" dirty="0">
                <a:solidFill>
                  <a:srgbClr val="FFFF00"/>
                </a:solidFill>
              </a:rPr>
              <a:t>diversity</a:t>
            </a:r>
            <a:r>
              <a:rPr lang="en-US" sz="1600" dirty="0">
                <a:solidFill>
                  <a:srgbClr val="CC99FF"/>
                </a:solidFill>
              </a:rPr>
              <a:t>) reduces aggregate fitness </a:t>
            </a:r>
            <a:r>
              <a:rPr lang="en-US" sz="1600" dirty="0">
                <a:solidFill>
                  <a:srgbClr val="FFFF00"/>
                </a:solidFill>
              </a:rPr>
              <a:t>variance</a:t>
            </a:r>
            <a:r>
              <a:rPr lang="en-US" sz="1600" dirty="0">
                <a:solidFill>
                  <a:srgbClr val="CC99FF"/>
                </a:solidFill>
              </a:rPr>
              <a:t>.  </a:t>
            </a:r>
          </a:p>
        </p:txBody>
      </p:sp>
      <p:sp>
        <p:nvSpPr>
          <p:cNvPr id="10" name="TextBox 9">
            <a:extLst>
              <a:ext uri="{FF2B5EF4-FFF2-40B4-BE49-F238E27FC236}">
                <a16:creationId xmlns:a16="http://schemas.microsoft.com/office/drawing/2014/main" id="{FB087477-3890-5258-EC71-FF6F61E50AD5}"/>
              </a:ext>
            </a:extLst>
          </p:cNvPr>
          <p:cNvSpPr txBox="1"/>
          <p:nvPr/>
        </p:nvSpPr>
        <p:spPr>
          <a:xfrm>
            <a:off x="8057853" y="3651767"/>
            <a:ext cx="4183616" cy="3293209"/>
          </a:xfrm>
          <a:prstGeom prst="rect">
            <a:avLst/>
          </a:prstGeom>
          <a:noFill/>
        </p:spPr>
        <p:txBody>
          <a:bodyPr wrap="square">
            <a:spAutoFit/>
          </a:bodyPr>
          <a:lstStyle/>
          <a:p>
            <a:pPr marL="285750" indent="-285750">
              <a:buFont typeface="Arial" panose="020B0604020202020204" pitchFamily="34" charset="0"/>
              <a:buChar char="•"/>
            </a:pPr>
            <a:r>
              <a:rPr lang="en-US" sz="1600" dirty="0">
                <a:solidFill>
                  <a:srgbClr val="FFFF00"/>
                </a:solidFill>
              </a:rPr>
              <a:t>Diversified</a:t>
            </a:r>
            <a:r>
              <a:rPr lang="en-US" sz="1600" dirty="0">
                <a:solidFill>
                  <a:srgbClr val="CC99FF"/>
                </a:solidFill>
              </a:rPr>
              <a:t> BH vs </a:t>
            </a:r>
            <a:r>
              <a:rPr lang="en-US" sz="1600" dirty="0">
                <a:solidFill>
                  <a:srgbClr val="FFFF00"/>
                </a:solidFill>
              </a:rPr>
              <a:t>plasticity/parental effects</a:t>
            </a:r>
            <a:r>
              <a:rPr lang="en-US" sz="1600" dirty="0">
                <a:solidFill>
                  <a:srgbClr val="CC99FF"/>
                </a:solidFill>
              </a:rPr>
              <a:t>,  </a:t>
            </a:r>
            <a:r>
              <a:rPr lang="en-US" sz="1600" dirty="0">
                <a:solidFill>
                  <a:srgbClr val="FFFF00"/>
                </a:solidFill>
              </a:rPr>
              <a:t>microbes</a:t>
            </a:r>
            <a:r>
              <a:rPr lang="en-US" sz="1600" dirty="0">
                <a:solidFill>
                  <a:srgbClr val="CC99FF"/>
                </a:solidFill>
              </a:rPr>
              <a:t> experiments fast evolution environment control. </a:t>
            </a:r>
          </a:p>
          <a:p>
            <a:pPr marL="285750" indent="-285750">
              <a:buFont typeface="Arial" panose="020B0604020202020204" pitchFamily="34" charset="0"/>
              <a:buChar char="•"/>
            </a:pPr>
            <a:r>
              <a:rPr lang="en-US" sz="1600" dirty="0">
                <a:solidFill>
                  <a:srgbClr val="CC99FF"/>
                </a:solidFill>
              </a:rPr>
              <a:t>We assumed the only </a:t>
            </a:r>
            <a:r>
              <a:rPr lang="en-US" sz="1600" dirty="0">
                <a:solidFill>
                  <a:srgbClr val="FFFF00"/>
                </a:solidFill>
              </a:rPr>
              <a:t>source of uncertainty </a:t>
            </a:r>
            <a:r>
              <a:rPr lang="en-US" sz="1600" dirty="0">
                <a:solidFill>
                  <a:srgbClr val="CC99FF"/>
                </a:solidFill>
              </a:rPr>
              <a:t>was the inherent stochasticity, and no uncertainty in the distribution. It is </a:t>
            </a:r>
            <a:r>
              <a:rPr lang="en-US" sz="1600" dirty="0">
                <a:solidFill>
                  <a:srgbClr val="FFFF00"/>
                </a:solidFill>
              </a:rPr>
              <a:t>costly to reduce uncertainty </a:t>
            </a:r>
            <a:r>
              <a:rPr lang="en-US" sz="1600" dirty="0">
                <a:solidFill>
                  <a:srgbClr val="CC99FF"/>
                </a:solidFill>
              </a:rPr>
              <a:t>in the distribution e.g. in clinical trials. This creates an  </a:t>
            </a:r>
            <a:r>
              <a:rPr lang="en-US" sz="1600" dirty="0">
                <a:solidFill>
                  <a:srgbClr val="FFFF00"/>
                </a:solidFill>
              </a:rPr>
              <a:t>Explore-exploit</a:t>
            </a:r>
            <a:r>
              <a:rPr lang="en-US" sz="1600" dirty="0">
                <a:solidFill>
                  <a:srgbClr val="CC99FF"/>
                </a:solidFill>
              </a:rPr>
              <a:t> tradeoff, investigated by </a:t>
            </a:r>
            <a:r>
              <a:rPr lang="en-US" sz="1600" dirty="0">
                <a:solidFill>
                  <a:srgbClr val="FFFF00"/>
                </a:solidFill>
              </a:rPr>
              <a:t>learning</a:t>
            </a:r>
            <a:r>
              <a:rPr lang="en-US" sz="1600" dirty="0">
                <a:solidFill>
                  <a:srgbClr val="CC99FF"/>
                </a:solidFill>
              </a:rPr>
              <a:t> theories.</a:t>
            </a:r>
          </a:p>
          <a:p>
            <a:pPr marL="285750" indent="-285750">
              <a:buFont typeface="Arial" panose="020B0604020202020204" pitchFamily="34" charset="0"/>
              <a:buChar char="•"/>
            </a:pPr>
            <a:r>
              <a:rPr lang="en-US" sz="1600" dirty="0">
                <a:solidFill>
                  <a:srgbClr val="FFFF00"/>
                </a:solidFill>
              </a:rPr>
              <a:t>Prospect theory </a:t>
            </a:r>
            <a:r>
              <a:rPr lang="en-US" sz="1600" dirty="0">
                <a:solidFill>
                  <a:srgbClr val="CC99FF"/>
                </a:solidFill>
              </a:rPr>
              <a:t>explains biases (risk aversion or seeking). Kahneman received the </a:t>
            </a:r>
            <a:r>
              <a:rPr lang="en-US" sz="1600" dirty="0">
                <a:solidFill>
                  <a:srgbClr val="FFFF00"/>
                </a:solidFill>
              </a:rPr>
              <a:t>2002 Nobel Prize </a:t>
            </a:r>
            <a:r>
              <a:rPr lang="en-US" sz="1600" dirty="0">
                <a:solidFill>
                  <a:srgbClr val="CC99FF"/>
                </a:solidFill>
              </a:rPr>
              <a:t>in economics for this. Also </a:t>
            </a:r>
            <a:r>
              <a:rPr lang="en-US" sz="1600" dirty="0">
                <a:solidFill>
                  <a:srgbClr val="FFFF00"/>
                </a:solidFill>
              </a:rPr>
              <a:t>Allais paradox</a:t>
            </a:r>
            <a:r>
              <a:rPr lang="en-US" sz="1600" dirty="0">
                <a:solidFill>
                  <a:srgbClr val="CC99FF"/>
                </a:solidFill>
              </a:rPr>
              <a:t>.</a:t>
            </a:r>
          </a:p>
        </p:txBody>
      </p:sp>
      <p:sp>
        <p:nvSpPr>
          <p:cNvPr id="18" name="TextBox 17">
            <a:extLst>
              <a:ext uri="{FF2B5EF4-FFF2-40B4-BE49-F238E27FC236}">
                <a16:creationId xmlns:a16="http://schemas.microsoft.com/office/drawing/2014/main" id="{2506E18E-8FC8-CCB2-3E79-6AA5163C11BF}"/>
              </a:ext>
            </a:extLst>
          </p:cNvPr>
          <p:cNvSpPr txBox="1"/>
          <p:nvPr/>
        </p:nvSpPr>
        <p:spPr>
          <a:xfrm>
            <a:off x="8047473" y="538008"/>
            <a:ext cx="4216757" cy="286232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CC99FF"/>
                </a:solidFill>
              </a:rPr>
              <a:t>What if fitness is </a:t>
            </a:r>
            <a:r>
              <a:rPr lang="en-US" sz="1800" dirty="0">
                <a:solidFill>
                  <a:srgbClr val="FFFF00"/>
                </a:solidFill>
              </a:rPr>
              <a:t>relative</a:t>
            </a:r>
            <a:r>
              <a:rPr lang="en-US" dirty="0">
                <a:solidFill>
                  <a:srgbClr val="CC99FF"/>
                </a:solidFill>
              </a:rPr>
              <a:t> not absolute?</a:t>
            </a:r>
            <a:endParaRPr lang="en-US" sz="1800" dirty="0">
              <a:solidFill>
                <a:srgbClr val="CC99FF"/>
              </a:solidFill>
            </a:endParaRPr>
          </a:p>
          <a:p>
            <a:pPr marL="285750" indent="-285750">
              <a:buFont typeface="Arial" panose="020B0604020202020204" pitchFamily="34" charset="0"/>
              <a:buChar char="•"/>
            </a:pPr>
            <a:r>
              <a:rPr lang="en-US" sz="1800" dirty="0">
                <a:solidFill>
                  <a:srgbClr val="CC99FF"/>
                </a:solidFill>
              </a:rPr>
              <a:t>Efron (</a:t>
            </a:r>
            <a:r>
              <a:rPr lang="en-US" sz="1800" dirty="0">
                <a:solidFill>
                  <a:srgbClr val="FFFF00"/>
                </a:solidFill>
              </a:rPr>
              <a:t>statistician</a:t>
            </a:r>
            <a:r>
              <a:rPr lang="en-US" sz="1800" dirty="0">
                <a:solidFill>
                  <a:srgbClr val="CC99FF"/>
                </a:solidFill>
              </a:rPr>
              <a:t>) concrete  formulation</a:t>
            </a:r>
          </a:p>
          <a:p>
            <a:pPr marL="285750" indent="-285750">
              <a:buFont typeface="Arial" panose="020B0604020202020204" pitchFamily="34" charset="0"/>
              <a:buChar char="•"/>
            </a:pPr>
            <a:r>
              <a:rPr lang="en-US" dirty="0">
                <a:solidFill>
                  <a:srgbClr val="CC99FF"/>
                </a:solidFill>
              </a:rPr>
              <a:t>Bio </a:t>
            </a:r>
            <a:r>
              <a:rPr lang="en-US" dirty="0">
                <a:solidFill>
                  <a:srgbClr val="FFFF00"/>
                </a:solidFill>
              </a:rPr>
              <a:t>low survival </a:t>
            </a:r>
            <a:r>
              <a:rPr lang="en-US" dirty="0">
                <a:solidFill>
                  <a:srgbClr val="CC99FF"/>
                </a:solidFill>
              </a:rPr>
              <a:t>then harsh </a:t>
            </a:r>
            <a:r>
              <a:rPr lang="en-US" dirty="0">
                <a:solidFill>
                  <a:srgbClr val="FFFF00"/>
                </a:solidFill>
              </a:rPr>
              <a:t>competition</a:t>
            </a:r>
            <a:endParaRPr lang="en-US" dirty="0">
              <a:solidFill>
                <a:srgbClr val="CC99FF"/>
              </a:solidFill>
            </a:endParaRPr>
          </a:p>
          <a:p>
            <a:pPr marL="285750" indent="-285750">
              <a:buFont typeface="Arial" panose="020B0604020202020204" pitchFamily="34" charset="0"/>
              <a:buChar char="•"/>
            </a:pPr>
            <a:r>
              <a:rPr lang="en-US" dirty="0">
                <a:solidFill>
                  <a:srgbClr val="CC99FF"/>
                </a:solidFill>
              </a:rPr>
              <a:t>If it was </a:t>
            </a:r>
            <a:r>
              <a:rPr lang="en-US" dirty="0">
                <a:solidFill>
                  <a:srgbClr val="FFFF00"/>
                </a:solidFill>
              </a:rPr>
              <a:t>transitive</a:t>
            </a:r>
            <a:r>
              <a:rPr lang="en-US" dirty="0">
                <a:solidFill>
                  <a:srgbClr val="CC99FF"/>
                </a:solidFill>
              </a:rPr>
              <a:t>, 033 should beat 114</a:t>
            </a:r>
          </a:p>
          <a:p>
            <a:pPr marL="285750" indent="-285750">
              <a:buFont typeface="Arial" panose="020B0604020202020204" pitchFamily="34" charset="0"/>
              <a:buChar char="•"/>
            </a:pPr>
            <a:r>
              <a:rPr lang="en-US" dirty="0">
                <a:solidFill>
                  <a:srgbClr val="CC99FF"/>
                </a:solidFill>
              </a:rPr>
              <a:t>But this only happens </a:t>
            </a:r>
            <a:r>
              <a:rPr lang="en-US" dirty="0">
                <a:solidFill>
                  <a:srgbClr val="FFFF00"/>
                </a:solidFill>
              </a:rPr>
              <a:t>4/9</a:t>
            </a:r>
            <a:r>
              <a:rPr lang="en-US" dirty="0">
                <a:solidFill>
                  <a:srgbClr val="CC99FF"/>
                </a:solidFill>
              </a:rPr>
              <a:t> of the time.</a:t>
            </a:r>
          </a:p>
          <a:p>
            <a:pPr marL="285750" indent="-285750">
              <a:buFont typeface="Arial" panose="020B0604020202020204" pitchFamily="34" charset="0"/>
              <a:buChar char="•"/>
            </a:pPr>
            <a:r>
              <a:rPr lang="en-US" dirty="0">
                <a:solidFill>
                  <a:srgbClr val="CC99FF"/>
                </a:solidFill>
              </a:rPr>
              <a:t>We have a </a:t>
            </a:r>
            <a:r>
              <a:rPr lang="en-US" dirty="0">
                <a:solidFill>
                  <a:srgbClr val="FFFF00"/>
                </a:solidFill>
              </a:rPr>
              <a:t>rock-papers-scissors</a:t>
            </a:r>
            <a:r>
              <a:rPr lang="en-US" dirty="0">
                <a:solidFill>
                  <a:srgbClr val="CC99FF"/>
                </a:solidFill>
              </a:rPr>
              <a:t> dynamic </a:t>
            </a:r>
          </a:p>
          <a:p>
            <a:pPr marL="285750" indent="-285750">
              <a:buFont typeface="Arial" panose="020B0604020202020204" pitchFamily="34" charset="0"/>
              <a:buChar char="•"/>
            </a:pPr>
            <a:r>
              <a:rPr lang="en-US" dirty="0">
                <a:solidFill>
                  <a:srgbClr val="CC99FF"/>
                </a:solidFill>
              </a:rPr>
              <a:t>Also works for </a:t>
            </a:r>
            <a:r>
              <a:rPr lang="en-US" dirty="0">
                <a:solidFill>
                  <a:srgbClr val="FFFF00"/>
                </a:solidFill>
              </a:rPr>
              <a:t>multiplayer</a:t>
            </a:r>
            <a:r>
              <a:rPr lang="en-US" dirty="0">
                <a:solidFill>
                  <a:srgbClr val="CC99FF"/>
                </a:solidFill>
              </a:rPr>
              <a:t>, any </a:t>
            </a:r>
            <a:r>
              <a:rPr lang="en-US" dirty="0">
                <a:solidFill>
                  <a:srgbClr val="FFFF00"/>
                </a:solidFill>
              </a:rPr>
              <a:t>digraph</a:t>
            </a:r>
            <a:r>
              <a:rPr lang="en-US" dirty="0">
                <a:solidFill>
                  <a:srgbClr val="CC99FF"/>
                </a:solidFill>
              </a:rPr>
              <a:t>.</a:t>
            </a:r>
          </a:p>
          <a:p>
            <a:pPr marL="285750" indent="-285750">
              <a:buFont typeface="Arial" panose="020B0604020202020204" pitchFamily="34" charset="0"/>
              <a:buChar char="•"/>
            </a:pPr>
            <a:r>
              <a:rPr lang="en-US" dirty="0">
                <a:solidFill>
                  <a:srgbClr val="CC99FF"/>
                </a:solidFill>
              </a:rPr>
              <a:t>Might object to payoff, [2,2,2] &gt; [1,1,99999999], but doesn’t need </a:t>
            </a:r>
            <a:r>
              <a:rPr lang="en-US" dirty="0">
                <a:solidFill>
                  <a:srgbClr val="FFFF00"/>
                </a:solidFill>
              </a:rPr>
              <a:t>strict threshold </a:t>
            </a:r>
            <a:r>
              <a:rPr lang="en-US" dirty="0">
                <a:solidFill>
                  <a:srgbClr val="CC99FF"/>
                </a:solidFill>
              </a:rPr>
              <a:t>or </a:t>
            </a:r>
            <a:r>
              <a:rPr lang="en-US" dirty="0">
                <a:solidFill>
                  <a:srgbClr val="FFFF00"/>
                </a:solidFill>
              </a:rPr>
              <a:t>independent rolls</a:t>
            </a:r>
          </a:p>
        </p:txBody>
      </p:sp>
    </p:spTree>
    <p:extLst>
      <p:ext uri="{BB962C8B-B14F-4D97-AF65-F5344CB8AC3E}">
        <p14:creationId xmlns:p14="http://schemas.microsoft.com/office/powerpoint/2010/main" val="1950824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3CD7-F71D-17D7-C64D-2CA41DADD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7A25C-2AAE-E39F-1D4E-BE77E4F9544F}"/>
              </a:ext>
            </a:extLst>
          </p:cNvPr>
          <p:cNvSpPr>
            <a:spLocks noGrp="1"/>
          </p:cNvSpPr>
          <p:nvPr>
            <p:ph type="title"/>
          </p:nvPr>
        </p:nvSpPr>
        <p:spPr/>
        <p:txBody>
          <a:bodyPr/>
          <a:lstStyle/>
          <a:p>
            <a:r>
              <a:rPr lang="en-US" dirty="0">
                <a:solidFill>
                  <a:srgbClr val="00B0F0"/>
                </a:solidFill>
              </a:rPr>
              <a:t>Subsequent Research and open questions</a:t>
            </a:r>
          </a:p>
        </p:txBody>
      </p:sp>
      <p:sp>
        <p:nvSpPr>
          <p:cNvPr id="3" name="Content Placeholder 2">
            <a:extLst>
              <a:ext uri="{FF2B5EF4-FFF2-40B4-BE49-F238E27FC236}">
                <a16:creationId xmlns:a16="http://schemas.microsoft.com/office/drawing/2014/main" id="{418FDEDB-EF68-E16C-304F-84875174F1E3}"/>
              </a:ext>
            </a:extLst>
          </p:cNvPr>
          <p:cNvSpPr>
            <a:spLocks noGrp="1"/>
          </p:cNvSpPr>
          <p:nvPr>
            <p:ph idx="1"/>
          </p:nvPr>
        </p:nvSpPr>
        <p:spPr>
          <a:xfrm>
            <a:off x="838200" y="1367624"/>
            <a:ext cx="10515600" cy="5295569"/>
          </a:xfrm>
        </p:spPr>
        <p:txBody>
          <a:bodyPr>
            <a:normAutofit fontScale="85000" lnSpcReduction="20000"/>
          </a:bodyPr>
          <a:lstStyle/>
          <a:p>
            <a:r>
              <a:rPr lang="en-US" dirty="0">
                <a:solidFill>
                  <a:srgbClr val="00B0F0"/>
                </a:solidFill>
              </a:rPr>
              <a:t>Debates over empirical evidence for bet hedging </a:t>
            </a:r>
            <a:r>
              <a:rPr lang="en-US" dirty="0"/>
              <a:t>– hard to distinguish from ordinary plasticity, constraint, parental effects, or unmeasured adaptation. Examples in desert annuals and then microbes for fast evolution / exact control of environment. </a:t>
            </a:r>
          </a:p>
          <a:p>
            <a:r>
              <a:rPr lang="en-US" dirty="0">
                <a:solidFill>
                  <a:srgbClr val="00B0F0"/>
                </a:solidFill>
              </a:rPr>
              <a:t>What if we don’t have perfect knowledge of the random variable's distribution? </a:t>
            </a:r>
            <a:r>
              <a:rPr lang="en-US" dirty="0"/>
              <a:t>This talk assumed there was no uncertainty in the RV. </a:t>
            </a:r>
            <a:r>
              <a:rPr lang="en-US" dirty="0">
                <a:solidFill>
                  <a:srgbClr val="FF0000"/>
                </a:solidFill>
              </a:rPr>
              <a:t> </a:t>
            </a:r>
            <a:r>
              <a:rPr lang="en-US" dirty="0"/>
              <a:t>This makes a meta question, as the RV itself has a distribution now. Regret based approaches  robustness… also related to learning / MAB literature (Gittin’s, UCB, Boltzmann) dynamic experiments (clinical trials) and pricing.</a:t>
            </a:r>
          </a:p>
          <a:p>
            <a:r>
              <a:rPr lang="en-US" dirty="0">
                <a:solidFill>
                  <a:srgbClr val="00B0F0"/>
                </a:solidFill>
              </a:rPr>
              <a:t>Non-static distribution or distribution of distributions? </a:t>
            </a:r>
            <a:r>
              <a:rPr lang="en-US" dirty="0"/>
              <a:t>Can collapse down – just a higher dimensional policy? State / Markov decision processes.</a:t>
            </a:r>
          </a:p>
          <a:p>
            <a:r>
              <a:rPr lang="en-US" dirty="0">
                <a:solidFill>
                  <a:srgbClr val="00B0F0"/>
                </a:solidFill>
              </a:rPr>
              <a:t>Descriptive approaches in humans </a:t>
            </a:r>
            <a:r>
              <a:rPr lang="en-US" dirty="0"/>
              <a:t>– Prospect theory in humans to explain biases like risk aversion (or seeking in the case of gambling) Kahneman received the 2002 Nobel Prize in economics for this, Allais paradox, some non-transitivity from poor cognition? 1944 Von Neumann and Morgenstern proved </a:t>
            </a:r>
            <a:r>
              <a:rPr lang="en-US" b="1" u="sng" dirty="0"/>
              <a:t>rational</a:t>
            </a:r>
            <a:r>
              <a:rPr lang="en-US" dirty="0"/>
              <a:t> preferences, by some reasonable definition, must use expected utility. </a:t>
            </a:r>
          </a:p>
          <a:p>
            <a:r>
              <a:rPr lang="en-US" dirty="0">
                <a:solidFill>
                  <a:srgbClr val="00B0F0"/>
                </a:solidFill>
              </a:rPr>
              <a:t>Effects of significant tail events / extinction risk (or finite time) / finite population effects</a:t>
            </a:r>
            <a:r>
              <a:rPr lang="en-US" dirty="0"/>
              <a:t> e.g. CVaR[X]</a:t>
            </a:r>
          </a:p>
        </p:txBody>
      </p:sp>
    </p:spTree>
    <p:extLst>
      <p:ext uri="{BB962C8B-B14F-4D97-AF65-F5344CB8AC3E}">
        <p14:creationId xmlns:p14="http://schemas.microsoft.com/office/powerpoint/2010/main" val="2579992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F15CD-1EC1-31E5-74D8-9F0B9DA76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27AF4-80F5-E7B5-DCD8-598FA343DA27}"/>
              </a:ext>
            </a:extLst>
          </p:cNvPr>
          <p:cNvSpPr>
            <a:spLocks noGrp="1"/>
          </p:cNvSpPr>
          <p:nvPr>
            <p:ph type="title"/>
          </p:nvPr>
        </p:nvSpPr>
        <p:spPr/>
        <p:txBody>
          <a:bodyPr/>
          <a:lstStyle/>
          <a:p>
            <a:r>
              <a:rPr lang="en-US" dirty="0"/>
              <a:t>Jim Simons: mathematician made multi-millionaire</a:t>
            </a:r>
          </a:p>
        </p:txBody>
      </p:sp>
      <p:sp>
        <p:nvSpPr>
          <p:cNvPr id="3" name="Content Placeholder 2">
            <a:extLst>
              <a:ext uri="{FF2B5EF4-FFF2-40B4-BE49-F238E27FC236}">
                <a16:creationId xmlns:a16="http://schemas.microsoft.com/office/drawing/2014/main" id="{64191434-5537-B58D-D571-84D66892A012}"/>
              </a:ext>
            </a:extLst>
          </p:cNvPr>
          <p:cNvSpPr>
            <a:spLocks noGrp="1"/>
          </p:cNvSpPr>
          <p:nvPr>
            <p:ph idx="1"/>
          </p:nvPr>
        </p:nvSpPr>
        <p:spPr>
          <a:xfrm>
            <a:off x="838200" y="1825625"/>
            <a:ext cx="4857750" cy="4351338"/>
          </a:xfrm>
        </p:spPr>
        <p:txBody>
          <a:bodyPr/>
          <a:lstStyle/>
          <a:p>
            <a:r>
              <a:rPr lang="en-US" dirty="0"/>
              <a:t>Mathematician who founded Renaissance Technologies, as of passing had about 30 billion dollars. </a:t>
            </a:r>
          </a:p>
          <a:p>
            <a:r>
              <a:rPr lang="en-US" dirty="0"/>
              <a:t>Founded the Simons foundation, major US funder of math research. </a:t>
            </a:r>
          </a:p>
        </p:txBody>
      </p:sp>
      <p:pic>
        <p:nvPicPr>
          <p:cNvPr id="2050" name="Picture 2" descr="Jim Simons, Renaissance Man and Stalwart IAS Ally, Dies at 86 | Press  Release | Institute for Advanced Study">
            <a:extLst>
              <a:ext uri="{FF2B5EF4-FFF2-40B4-BE49-F238E27FC236}">
                <a16:creationId xmlns:a16="http://schemas.microsoft.com/office/drawing/2014/main" id="{D3AF821C-E8CE-0C3C-F10F-08FB30E481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77105"/>
            <a:ext cx="5867842" cy="3899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666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9464-06B8-306C-B424-2DE9483B5B3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5F6EA61-47B8-FBC4-C281-FCE209AFDE29}"/>
              </a:ext>
            </a:extLst>
          </p:cNvPr>
          <p:cNvSpPr>
            <a:spLocks noGrp="1"/>
          </p:cNvSpPr>
          <p:nvPr>
            <p:ph idx="1"/>
          </p:nvPr>
        </p:nvSpPr>
        <p:spPr>
          <a:xfrm>
            <a:off x="838200" y="1311965"/>
            <a:ext cx="10515600" cy="5470498"/>
          </a:xfrm>
        </p:spPr>
        <p:txBody>
          <a:bodyPr>
            <a:normAutofit fontScale="77500" lnSpcReduction="20000"/>
          </a:bodyPr>
          <a:lstStyle/>
          <a:p>
            <a:endParaRPr lang="en-US" dirty="0"/>
          </a:p>
          <a:p>
            <a:r>
              <a:rPr lang="en-US" dirty="0"/>
              <a:t>Markowitz, Harry. "Modern portfolio theory." </a:t>
            </a:r>
            <a:r>
              <a:rPr lang="en-US" i="1" dirty="0"/>
              <a:t>Journal of Finance</a:t>
            </a:r>
            <a:r>
              <a:rPr lang="en-US" dirty="0"/>
              <a:t> 7.11 (1952): 77-91.</a:t>
            </a:r>
          </a:p>
          <a:p>
            <a:r>
              <a:rPr lang="en-US" dirty="0"/>
              <a:t>Kelly, John L. "A new interpretation of information rate." </a:t>
            </a:r>
            <a:r>
              <a:rPr lang="en-US" i="1" dirty="0"/>
              <a:t>the bell system technical journal</a:t>
            </a:r>
            <a:r>
              <a:rPr lang="en-US" dirty="0"/>
              <a:t> 35.4 (1956): 917-926.</a:t>
            </a:r>
          </a:p>
          <a:p>
            <a:r>
              <a:rPr lang="en-US" dirty="0"/>
              <a:t>Gillespie, John H. "Natural selection for within-generation variance in offspring number." </a:t>
            </a:r>
            <a:r>
              <a:rPr lang="en-US" i="1" dirty="0"/>
              <a:t>Genetics</a:t>
            </a:r>
            <a:r>
              <a:rPr lang="en-US" dirty="0"/>
              <a:t> 76.3 (1974): 601.</a:t>
            </a:r>
          </a:p>
          <a:p>
            <a:r>
              <a:rPr lang="en-US" dirty="0"/>
              <a:t>Gardner, M. ``Mathematical Games: The Paradox of the Nontransitive Dice and the Elusive Principle of Indifference.'' </a:t>
            </a:r>
            <a:r>
              <a:rPr lang="en-US" i="1" dirty="0"/>
              <a:t>Sci. Amer.</a:t>
            </a:r>
            <a:r>
              <a:rPr lang="en-US" dirty="0"/>
              <a:t> </a:t>
            </a:r>
            <a:r>
              <a:rPr lang="en-US" b="1" dirty="0"/>
              <a:t>223</a:t>
            </a:r>
            <a:r>
              <a:rPr lang="en-US" dirty="0"/>
              <a:t>, 110-114, Dec. 1970.</a:t>
            </a:r>
          </a:p>
          <a:p>
            <a:endParaRPr lang="en-US" dirty="0"/>
          </a:p>
          <a:p>
            <a:r>
              <a:rPr lang="en-US" dirty="0"/>
              <a:t>Olofsson, Helen, Jörgen Ripa, and Niclas Jonzén. "Bet-hedging as an evolutionary game: the trade-off between egg size and number." </a:t>
            </a:r>
            <a:r>
              <a:rPr lang="en-US" i="1" dirty="0"/>
              <a:t>Proceedings of the Royal Society B: Biological Sciences</a:t>
            </a:r>
            <a:r>
              <a:rPr lang="en-US" dirty="0"/>
              <a:t> 276.1669 (2009): 2963-2969.</a:t>
            </a:r>
          </a:p>
          <a:p>
            <a:r>
              <a:rPr lang="en-US" dirty="0" err="1"/>
              <a:t>Starrfelt</a:t>
            </a:r>
            <a:r>
              <a:rPr lang="en-US" dirty="0"/>
              <a:t>, Jostein, and Hanna Kokko. "Bet‐hedging—a triple trade‐off between means, variances and correlations." </a:t>
            </a:r>
            <a:r>
              <a:rPr lang="en-US" i="1" dirty="0"/>
              <a:t>Biological Reviews</a:t>
            </a:r>
            <a:r>
              <a:rPr lang="en-US" dirty="0"/>
              <a:t> 87.3 (2012): 742-755.</a:t>
            </a:r>
          </a:p>
          <a:p>
            <a:r>
              <a:rPr lang="en-US" dirty="0"/>
              <a:t>Schreiber, Sebastian J. "Unifying within-and between-generation bet-hedging theories: an ode to JH Gillespie." </a:t>
            </a:r>
            <a:r>
              <a:rPr lang="en-US" i="1" dirty="0"/>
              <a:t>The American Naturalist</a:t>
            </a:r>
            <a:r>
              <a:rPr lang="en-US" dirty="0"/>
              <a:t> 186.6 (2015): 792-796.</a:t>
            </a:r>
          </a:p>
          <a:p>
            <a:r>
              <a:rPr lang="en-US" dirty="0"/>
              <a:t>Angel, Davis, 2017 “A Direct Construction of Nontransitive Dice Sets”</a:t>
            </a:r>
          </a:p>
        </p:txBody>
      </p:sp>
    </p:spTree>
    <p:extLst>
      <p:ext uri="{BB962C8B-B14F-4D97-AF65-F5344CB8AC3E}">
        <p14:creationId xmlns:p14="http://schemas.microsoft.com/office/powerpoint/2010/main" val="3278984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95ACB-A29C-7F12-3A7F-DDDB285F976A}"/>
              </a:ext>
            </a:extLst>
          </p:cNvPr>
          <p:cNvSpPr>
            <a:spLocks noGrp="1"/>
          </p:cNvSpPr>
          <p:nvPr>
            <p:ph type="title"/>
          </p:nvPr>
        </p:nvSpPr>
        <p:spPr/>
        <p:txBody>
          <a:bodyPr/>
          <a:lstStyle/>
          <a:p>
            <a:r>
              <a:rPr lang="en-US" dirty="0"/>
              <a:t>Extras</a:t>
            </a:r>
          </a:p>
        </p:txBody>
      </p:sp>
      <p:sp>
        <p:nvSpPr>
          <p:cNvPr id="3" name="Content Placeholder 2">
            <a:extLst>
              <a:ext uri="{FF2B5EF4-FFF2-40B4-BE49-F238E27FC236}">
                <a16:creationId xmlns:a16="http://schemas.microsoft.com/office/drawing/2014/main" id="{C548BC36-C02F-8141-72B7-5A4B63CD4C5C}"/>
              </a:ext>
            </a:extLst>
          </p:cNvPr>
          <p:cNvSpPr>
            <a:spLocks noGrp="1"/>
          </p:cNvSpPr>
          <p:nvPr>
            <p:ph idx="1"/>
          </p:nvPr>
        </p:nvSpPr>
        <p:spPr>
          <a:xfrm>
            <a:off x="838200" y="1825625"/>
            <a:ext cx="5257800" cy="4351338"/>
          </a:xfrm>
        </p:spPr>
        <p:txBody>
          <a:bodyPr/>
          <a:lstStyle/>
          <a:p>
            <a:r>
              <a:rPr lang="en-US" dirty="0"/>
              <a:t>To the right we see the dice payoff graph for all ways of putting 6 eggs into three baskets, sorted clockwise from the top by outdegree (~overall strength). Indeed we see [0,0,6] the all in one is worst, and [2,2,2] is generally the best.</a:t>
            </a:r>
          </a:p>
        </p:txBody>
      </p:sp>
      <p:pic>
        <p:nvPicPr>
          <p:cNvPr id="4" name="Picture 3">
            <a:extLst>
              <a:ext uri="{FF2B5EF4-FFF2-40B4-BE49-F238E27FC236}">
                <a16:creationId xmlns:a16="http://schemas.microsoft.com/office/drawing/2014/main" id="{EECB55FE-F841-3FB6-20CD-158AC6508488}"/>
              </a:ext>
            </a:extLst>
          </p:cNvPr>
          <p:cNvPicPr>
            <a:picLocks noChangeAspect="1"/>
          </p:cNvPicPr>
          <p:nvPr/>
        </p:nvPicPr>
        <p:blipFill>
          <a:blip r:embed="rId2"/>
          <a:stretch>
            <a:fillRect/>
          </a:stretch>
        </p:blipFill>
        <p:spPr>
          <a:xfrm>
            <a:off x="6096000" y="623357"/>
            <a:ext cx="5714084" cy="5611286"/>
          </a:xfrm>
          <a:prstGeom prst="rect">
            <a:avLst/>
          </a:prstGeom>
        </p:spPr>
      </p:pic>
    </p:spTree>
    <p:extLst>
      <p:ext uri="{BB962C8B-B14F-4D97-AF65-F5344CB8AC3E}">
        <p14:creationId xmlns:p14="http://schemas.microsoft.com/office/powerpoint/2010/main" val="384519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1285</Words>
  <Application>Microsoft Office PowerPoint</Application>
  <PresentationFormat>Widescreen</PresentationFormat>
  <Paragraphs>90</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Eras Light ITC</vt:lpstr>
      <vt:lpstr>Office Theme</vt:lpstr>
      <vt:lpstr>PowerPoint Presentation</vt:lpstr>
      <vt:lpstr>PowerPoint Presentation</vt:lpstr>
      <vt:lpstr>Subsequent Research and open questions</vt:lpstr>
      <vt:lpstr>Jim Simons: mathematician made multi-millionaire</vt:lpstr>
      <vt:lpstr>References</vt:lpstr>
      <vt:lpstr>Extras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Mintz</dc:creator>
  <cp:lastModifiedBy>Brian Mintz</cp:lastModifiedBy>
  <cp:revision>4</cp:revision>
  <dcterms:created xsi:type="dcterms:W3CDTF">2026-06-12T02:20:07Z</dcterms:created>
  <dcterms:modified xsi:type="dcterms:W3CDTF">2026-06-12T02:26:48Z</dcterms:modified>
</cp:coreProperties>
</file>